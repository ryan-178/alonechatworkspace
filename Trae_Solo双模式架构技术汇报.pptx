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29260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Solo 双模式架构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技术汇报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41148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08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MTC模式 + Code模式 深度解析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0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2026年5月15日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3497580"/>
            <a:ext cx="1828800" cy="1097280"/>
          </a:xfrm>
          <a:prstGeom prst="rect">
            <a:avLst>
              <a:gd name="adj" fmla="val 8333"/>
            </a:avLst>
          </a:prstGeom>
          <a:solidFill>
            <a:srgbClr val="25305F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36347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MTC + 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40462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Dual Mode</a:t>
            </a:r>
            <a:endParaRPr lang="en-US" sz="11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 OF 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0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188720"/>
            <a:ext cx="502920" cy="502920"/>
          </a:xfrm>
          <a:prstGeom prst="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双模式架构概览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14813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整体架构设计与核心数据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1435608"/>
            <a:ext cx="27432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810512"/>
            <a:ext cx="502920" cy="502920"/>
          </a:xfrm>
          <a:prstGeom prst="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18105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MTC模式详解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2103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More Than Coding 四大核心能力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2057400"/>
            <a:ext cx="27432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2432304"/>
            <a:ext cx="502920" cy="502920"/>
          </a:xfrm>
          <a:prstGeom prst="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432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24323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Code模式详解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45920" y="27249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专业开发者智能体架构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2679192"/>
            <a:ext cx="27432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3054096"/>
            <a:ext cx="502920" cy="502920"/>
          </a:xfrm>
          <a:prstGeom prst="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45920" y="30540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技术对比分析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45920" y="33467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MTC vs Code 全方位对比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3300984"/>
            <a:ext cx="27432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3675888"/>
            <a:ext cx="502920" cy="502920"/>
          </a:xfrm>
          <a:prstGeom prst="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675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45920" y="3675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开发难点与方案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45920" y="39684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关键技术挑战与解决思路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3922776"/>
            <a:ext cx="27432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4297680"/>
            <a:ext cx="502920" cy="502920"/>
          </a:xfrm>
          <a:prstGeom prst="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645920" y="4297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实现路径规划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645920" y="45902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四阶段开发路线图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4544568"/>
            <a:ext cx="27432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双模式架构概览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 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0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4114800" cy="640080"/>
          </a:xfrm>
          <a:prstGeom prst="rect">
            <a:avLst>
              <a:gd name="adj" fmla="val 8571"/>
            </a:avLst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用户接口层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PC客户端 / Web端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4114800" cy="640080"/>
          </a:xfrm>
          <a:prstGeom prst="rect">
            <a:avLst>
              <a:gd name="adj" fmla="val 8571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57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模式切换层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331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 Router  |  MTC模式 &lt;-&gt; Code模式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4114800" cy="640080"/>
          </a:xfrm>
          <a:prstGeom prst="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154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Skills系统 / 沙箱执行 / 记忆系统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4114800" cy="640080"/>
          </a:xfrm>
          <a:prstGeom prst="rect">
            <a:avLst>
              <a:gd name="adj" fmla="val 8571"/>
            </a:avLst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03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977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云端算力 / 文件存储 / 任务调度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06040" y="1828800"/>
            <a:ext cx="0" cy="18288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606040" y="2651760"/>
            <a:ext cx="0" cy="18288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606040" y="3474720"/>
            <a:ext cx="0" cy="18288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3035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核心成绩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60720" y="1572768"/>
            <a:ext cx="25603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1783080"/>
            <a:ext cx="3474720" cy="822960"/>
          </a:xfrm>
          <a:prstGeom prst="rect">
            <a:avLst>
              <a:gd name="adj" fmla="val 6667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8288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1874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SWE-bench Verified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榜单第一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2788920"/>
            <a:ext cx="3474720" cy="822960"/>
          </a:xfrm>
          <a:prstGeom prst="rect">
            <a:avLst>
              <a:gd name="adj" fmla="val 6667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2834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58000" y="2880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CCF-A 顶会论文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0" y="3794760"/>
            <a:ext cx="3474720" cy="822960"/>
          </a:xfrm>
          <a:prstGeom prst="rect">
            <a:avLst>
              <a:gd name="adj" fmla="val 6667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3840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C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10.2k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58000" y="3886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trae-agent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Stars</a:t>
            </a:r>
            <a:endParaRPr lang="en-US" sz="11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MTC模式 - More Than Coding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超越编码的智能工作模式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0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3931920" cy="1417320"/>
          </a:xfrm>
          <a:prstGeom prst="rect">
            <a:avLst>
              <a:gd name="adj" fmla="val 5161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80160"/>
            <a:ext cx="411480" cy="411480"/>
          </a:xfrm>
          <a:prstGeom prst="rect">
            <a:avLst>
              <a:gd name="adj" fmla="val 13333"/>
            </a:avLst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280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多格式文件理解与生成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1645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JSON / Python / PPTX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/ Word / PDF 等格式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自动选择最优工具链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3931920" cy="1417320"/>
          </a:xfrm>
          <a:prstGeom prst="rect">
            <a:avLst>
              <a:gd name="adj" fmla="val 5161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280160"/>
            <a:ext cx="411480" cy="411480"/>
          </a:xfrm>
          <a:prstGeom prst="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1280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智能任务拆解与执行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645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自然语言输入 -&gt; 自动拆解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Skills 调用 -&gt; 结果聚合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端到端任务完成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3931920" cy="1417320"/>
          </a:xfrm>
          <a:prstGeom prst="rect">
            <a:avLst>
              <a:gd name="adj" fmla="val 5161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880360"/>
            <a:ext cx="411480" cy="411480"/>
          </a:xfrm>
          <a:prstGeom prst="rect">
            <a:avLst>
              <a:gd name="adj" fmla="val 13333"/>
            </a:avLst>
          </a:prstGeom>
          <a:solidFill>
            <a:srgbClr val="2C5AA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云端算力与多任务并行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246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后台持续计算不中断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跨设备查看进度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支持多任务并行执行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3931920" cy="1417320"/>
          </a:xfrm>
          <a:prstGeom prst="rect">
            <a:avLst>
              <a:gd name="adj" fmla="val 5161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880360"/>
            <a:ext cx="411480" cy="411480"/>
          </a:xfrm>
          <a:prstGeom prst="rect">
            <a:avLst>
              <a:gd name="adj" fmla="val 13333"/>
            </a:avLst>
          </a:prstGeom>
          <a:solidFill>
            <a:srgbClr val="34495E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统一工作区与上下文记忆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3246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文件集中管理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上下文持续记忆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无缝会话衔接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8046720" cy="502920"/>
          </a:xfrm>
          <a:prstGeom prst="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典型效率提升:  产品经理制作竞品分析PPT  |  传统方式: 1-2天  -&gt;  MTC模式: 约7分钟</a:t>
            </a:r>
            <a:endParaRPr lang="en-US" sz="11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MTC模式典型应用场景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 Scenarios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0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965960" cy="594360"/>
          </a:xfrm>
          <a:prstGeom prst="rect">
            <a:avLst>
              <a:gd name="adj" fmla="val 9231"/>
            </a:avLst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43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1965960" cy="2103120"/>
          </a:xfrm>
          <a:prstGeom prst="rect">
            <a:avLst/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2024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竞品分析报告</a:t>
            </a:r>
            <a:endParaRPr lang="en-US" sz="10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PRD文档撰写</a:t>
            </a:r>
            <a:endParaRPr lang="en-US" sz="10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用户调研整理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965960" cy="411480"/>
          </a:xfrm>
          <a:prstGeom prst="rect">
            <a:avLst>
              <a:gd name="adj" fmla="val 8889"/>
            </a:avLst>
          </a:prstGeom>
          <a:solidFill>
            <a:srgbClr val="F0F4F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31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 85%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1143000"/>
            <a:ext cx="1965960" cy="594360"/>
          </a:xfrm>
          <a:prstGeom prst="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1143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运营人员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06040" y="1783080"/>
            <a:ext cx="1965960" cy="2103120"/>
          </a:xfrm>
          <a:prstGeom prst="rect">
            <a:avLst/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92024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活动方案策划</a:t>
            </a:r>
            <a:endParaRPr lang="en-US" sz="10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数据报表生成</a:t>
            </a:r>
            <a:endParaRPr lang="en-US" sz="10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内容素材制作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06040" y="3931920"/>
            <a:ext cx="1965960" cy="411480"/>
          </a:xfrm>
          <a:prstGeom prst="rect">
            <a:avLst>
              <a:gd name="adj" fmla="val 8889"/>
            </a:avLst>
          </a:prstGeom>
          <a:solidFill>
            <a:srgbClr val="F0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3931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 78%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1965960" cy="594360"/>
          </a:xfrm>
          <a:prstGeom prst="rect">
            <a:avLst>
              <a:gd name="adj" fmla="val 9231"/>
            </a:avLst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143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783080"/>
            <a:ext cx="1965960" cy="2103120"/>
          </a:xfrm>
          <a:prstGeom prst="rect">
            <a:avLst/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92024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数据清洗处理</a:t>
            </a:r>
            <a:endParaRPr lang="en-US" sz="10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可视化图表</a:t>
            </a:r>
            <a:endParaRPr lang="en-US" sz="10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分析报告输出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931920"/>
            <a:ext cx="1965960" cy="411480"/>
          </a:xfrm>
          <a:prstGeom prst="rect">
            <a:avLst>
              <a:gd name="adj" fmla="val 8889"/>
            </a:avLst>
          </a:prstGeom>
          <a:solidFill>
            <a:srgbClr val="F0F4FA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931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 72%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1143000"/>
            <a:ext cx="1965960" cy="594360"/>
          </a:xfrm>
          <a:prstGeom prst="rect">
            <a:avLst>
              <a:gd name="adj" fmla="val 9231"/>
            </a:avLst>
          </a:prstGeom>
          <a:solidFill>
            <a:srgbClr val="34495E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143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研发人员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03720" y="1783080"/>
            <a:ext cx="1965960" cy="2103120"/>
          </a:xfrm>
          <a:prstGeom prst="rect">
            <a:avLst/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92024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技术文档编写</a:t>
            </a:r>
            <a:endParaRPr lang="en-US" sz="10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测试用例生成</a:t>
            </a:r>
            <a:endParaRPr lang="en-US" sz="10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代码审查辅助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3931920"/>
            <a:ext cx="1965960" cy="411480"/>
          </a:xfrm>
          <a:prstGeom prst="rect">
            <a:avLst>
              <a:gd name="adj" fmla="val 8889"/>
            </a:avLst>
          </a:prstGeom>
          <a:solidFill>
            <a:srgbClr val="F0F4FA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931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 65%</a:t>
            </a:r>
            <a:endParaRPr lang="en-US" sz="10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Code模式 - 专业开发者智能体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Professional Developer Agent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0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0" y="1188720"/>
            <a:ext cx="3291840" cy="640080"/>
          </a:xfrm>
          <a:prstGeom prst="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Solo Coder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架构 (Reasoning + Acting)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828800" cy="731520"/>
          </a:xfrm>
          <a:prstGeom prst="rect">
            <a:avLst>
              <a:gd name="adj" fmla="val 7500"/>
            </a:avLst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59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Mode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先规划后执行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0" y="2286000"/>
            <a:ext cx="1828800" cy="731520"/>
          </a:xfrm>
          <a:prstGeom prst="rect">
            <a:avLst>
              <a:gd name="adj" fmla="val 7500"/>
            </a:avLst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2359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子Agent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上下文隔离搜索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0" y="2286000"/>
            <a:ext cx="1828800" cy="731520"/>
          </a:xfrm>
          <a:prstGeom prst="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2359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Sub-Agent 团队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专家协作模式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83680" y="2286000"/>
            <a:ext cx="1828800" cy="731520"/>
          </a:xfrm>
          <a:prstGeom prst="rect">
            <a:avLst>
              <a:gd name="adj" fmla="val 7500"/>
            </a:avLst>
          </a:prstGeom>
          <a:solidFill>
            <a:srgbClr val="34495E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359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工具链执行引擎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/ 终端 / MCP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0" y="1828800"/>
            <a:ext cx="-3108960" cy="45720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0" y="1828800"/>
            <a:ext cx="-1097280" cy="45720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0" y="1828800"/>
            <a:ext cx="914400" cy="45720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72000" y="1828800"/>
            <a:ext cx="2926080" cy="45720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" y="3383280"/>
            <a:ext cx="8046720" cy="1371600"/>
          </a:xfrm>
          <a:prstGeom prst="rect">
            <a:avLst>
              <a:gd name="adj" fmla="val 4000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474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推理循环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3794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Thought(思考) -&gt; Action(行动) -&gt; Observation(观察) -&gt; 循环迭代直到任务完成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支持动态工具选择、上下文感知决策、多步骤复杂任务分解与执行</a:t>
            </a:r>
            <a:endParaRPr lang="en-US" sz="9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Code模式 SWE 能力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Software Engineering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0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2651760" cy="1188720"/>
          </a:xfrm>
          <a:prstGeom prst="rect">
            <a:avLst>
              <a:gd name="adj" fmla="val 6154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SWE-bench Verified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榜单第一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0" y="1143000"/>
            <a:ext cx="2651760" cy="1188720"/>
          </a:xfrm>
          <a:prstGeom prst="rect">
            <a:avLst>
              <a:gd name="adj" fmla="val 6154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82.5%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HumanEval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0116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修复准确率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1143000"/>
            <a:ext cx="2651760" cy="1188720"/>
          </a:xfrm>
          <a:prstGeom prst="rect">
            <a:avLst>
              <a:gd name="adj" fmla="val 6154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2C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89.1%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0936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测试生成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0116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 四阶段流水线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017520"/>
            <a:ext cx="1828800" cy="1097280"/>
          </a:xfrm>
          <a:prstGeom prst="rect">
            <a:avLst>
              <a:gd name="adj" fmla="val 6667"/>
            </a:avLst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474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理解Issue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定位代码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0" y="3566160"/>
            <a:ext cx="32004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97480" y="3017520"/>
            <a:ext cx="1828800" cy="1097280"/>
          </a:xfrm>
          <a:prstGeom prst="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代码优化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97480" y="3474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生成修复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代码变更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26280" y="3566160"/>
            <a:ext cx="32004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46320" y="3017520"/>
            <a:ext cx="1828800" cy="1097280"/>
          </a:xfrm>
          <a:prstGeom prst="rect">
            <a:avLst>
              <a:gd name="adj" fmla="val 6667"/>
            </a:avLst>
          </a:prstGeom>
          <a:solidFill>
            <a:srgbClr val="2C5AA0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测试生成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474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编写测试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验证修复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75120" y="3566160"/>
            <a:ext cx="32004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995160" y="3017520"/>
            <a:ext cx="1828800" cy="1097280"/>
          </a:xfrm>
          <a:prstGeom prst="rect">
            <a:avLst>
              <a:gd name="adj" fmla="val 6667"/>
            </a:avLst>
          </a:prstGeom>
          <a:solidFill>
            <a:srgbClr val="34495E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代码精化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3474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优化质量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最终输出</a:t>
            </a:r>
            <a:endParaRPr lang="en-US" sz="9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MTC vs Code 技术对比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Comparison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0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MTC 模式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 模式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目标用户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非技术人员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专业开发者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核心场景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文档/数据/调研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编码/调试/Git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Office工具 (PPT/Excel/Word)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IDE / 终端 / MCP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执行环境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云端沙箱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 + 云端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输出格式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 / Excel / Word / PDF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 / 项目结构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自然语言对话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代码编辑器内交互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技术架构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Skills + 意图澄清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ReAct + Sub-Agent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技术开发难点与解决方案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Challenges &amp; Solutions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0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2697480" cy="822960"/>
          </a:xfrm>
          <a:prstGeom prst="rect">
            <a:avLst>
              <a:gd name="adj" fmla="val 8889"/>
            </a:avLst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188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模式管理与切换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双模式状态隔离与无缝切换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2697480" cy="2560320"/>
          </a:xfrm>
          <a:prstGeom prst="rect">
            <a:avLst/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03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377440"/>
            <a:ext cx="242316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6888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ModeRouter 统一调度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状态机管理切换流程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独立上下文空间隔离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1143000"/>
            <a:ext cx="2697480" cy="822960"/>
          </a:xfrm>
          <a:prstGeom prst="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188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94760" y="1188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沙箱安全执行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代码执行安全性与资源管控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2011680"/>
            <a:ext cx="2697480" cy="2560320"/>
          </a:xfrm>
          <a:prstGeom prst="rect">
            <a:avLst/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103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2377440"/>
            <a:ext cx="242316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46888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 + 黑名单机制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CPU/内存/网络资源限制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容器化隔离执行环境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143000"/>
            <a:ext cx="2697480" cy="822960"/>
          </a:xfrm>
          <a:prstGeom prst="rect">
            <a:avLst>
              <a:gd name="adj" fmla="val 8889"/>
            </a:avLst>
          </a:prstGeom>
          <a:solidFill>
            <a:srgbClr val="2C5AA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188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1188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插件化体系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能力扩展与第三方集成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2011680"/>
            <a:ext cx="2697480" cy="2560320"/>
          </a:xfrm>
          <a:prstGeom prst="rect">
            <a:avLst/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103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C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2377440"/>
            <a:ext cx="242316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46888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动态加载与热更新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版本管理与兼容检测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市场接口设计</a:t>
            </a:r>
            <a:endParaRPr lang="en-US" sz="9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项目现有能力评估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Assessment Matrix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0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能力模块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ReAct 推理循环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90D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DAG 工作流编排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90D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沙箱安全执行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39C1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 Agent 协作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39C1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SWE 引擎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39C1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骨架搭建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39C1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★★☆☆☆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Search 子Agent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★☆☆☆☆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 Mode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★☆☆☆☆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371600" y="4434840"/>
            <a:ext cx="228600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/>
          <p:nvPr/>
        </p:nvSpPr>
        <p:spPr>
          <a:xfrm>
            <a:off x="1691640" y="44348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0" y="4434840"/>
            <a:ext cx="22860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9"/>
          <p:cNvSpPr/>
          <p:nvPr/>
        </p:nvSpPr>
        <p:spPr>
          <a:xfrm>
            <a:off x="3063240" y="44348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开发中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0" y="4434840"/>
            <a:ext cx="22860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44348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未实现</a:t>
            </a:r>
            <a:endParaRPr lang="en-US" sz="9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实现路径规划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Roadmap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0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25400">
            <a:solidFill>
              <a:srgbClr val="D0D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148840"/>
            <a:ext cx="274320" cy="274320"/>
          </a:xfrm>
          <a:prstGeom prst="rect">
            <a:avLst>
              <a:gd name="adj" fmla="val 50000"/>
            </a:avLst>
          </a:prstGeom>
          <a:solidFill>
            <a:srgbClr val="4A90D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88720"/>
            <a:ext cx="2011680" cy="365760"/>
          </a:xfrm>
          <a:prstGeom prst="rect">
            <a:avLst>
              <a:gd name="adj" fmla="val 15000"/>
            </a:avLst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 |  Week 1-2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2011680" cy="1645920"/>
          </a:xfrm>
          <a:prstGeom prst="rect">
            <a:avLst>
              <a:gd name="adj" fmla="val 3333"/>
            </a:avLst>
          </a:prstGeom>
          <a:solidFill>
            <a:srgbClr val="F7F9FD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基础架构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164592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08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模式管理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Agent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增强沙箱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0" y="214884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7" name="Shape 15"/>
          <p:cNvSpPr/>
          <p:nvPr/>
        </p:nvSpPr>
        <p:spPr>
          <a:xfrm>
            <a:off x="2697480" y="1188720"/>
            <a:ext cx="2011680" cy="365760"/>
          </a:xfrm>
          <a:prstGeom prst="rect">
            <a:avLst>
              <a:gd name="adj" fmla="val 15000"/>
            </a:avLst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 |  Week 3-4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97480" y="2606040"/>
            <a:ext cx="2011680" cy="1645920"/>
          </a:xfrm>
          <a:prstGeom prst="rect">
            <a:avLst>
              <a:gd name="adj" fmla="val 3333"/>
            </a:avLst>
          </a:prstGeom>
          <a:solidFill>
            <a:srgbClr val="F7F9FD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 能力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17520"/>
            <a:ext cx="164592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3108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Mode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 引擎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子Agent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06440" y="2148840"/>
            <a:ext cx="274320" cy="274320"/>
          </a:xfrm>
          <a:prstGeom prst="rect">
            <a:avLst>
              <a:gd name="adj" fmla="val 50000"/>
            </a:avLst>
          </a:prstGeom>
          <a:solidFill>
            <a:srgbClr val="F39C12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1188720"/>
            <a:ext cx="2011680" cy="365760"/>
          </a:xfrm>
          <a:prstGeom prst="rect">
            <a:avLst>
              <a:gd name="adj" fmla="val 15000"/>
            </a:avLst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  |  Week 5-6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606040"/>
            <a:ext cx="2011680" cy="1645920"/>
          </a:xfrm>
          <a:prstGeom prst="rect">
            <a:avLst>
              <a:gd name="adj" fmla="val 3333"/>
            </a:avLst>
          </a:prstGeom>
          <a:solidFill>
            <a:srgbClr val="F7F9FD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协作集成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3017520"/>
            <a:ext cx="164592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108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Sub-Agent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集成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 View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55280" y="2148840"/>
            <a:ext cx="274320" cy="274320"/>
          </a:xfrm>
          <a:prstGeom prst="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31" name="Shape 29"/>
          <p:cNvSpPr/>
          <p:nvPr/>
        </p:nvSpPr>
        <p:spPr>
          <a:xfrm>
            <a:off x="6995160" y="1188720"/>
            <a:ext cx="2011680" cy="365760"/>
          </a:xfrm>
          <a:prstGeom prst="rect">
            <a:avLst>
              <a:gd name="adj" fmla="val 15000"/>
            </a:avLst>
          </a:prstGeom>
          <a:solidFill>
            <a:srgbClr val="E74C3C"/>
          </a:solidFill>
          <a:ln/>
        </p:spPr>
      </p:sp>
      <p:sp>
        <p:nvSpPr>
          <p:cNvPr id="32" name="Text 30"/>
          <p:cNvSpPr/>
          <p:nvPr/>
        </p:nvSpPr>
        <p:spPr>
          <a:xfrm>
            <a:off x="699516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  |  Week 7-8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95160" y="2606040"/>
            <a:ext cx="2011680" cy="1645920"/>
          </a:xfrm>
          <a:prstGeom prst="rect">
            <a:avLst>
              <a:gd name="adj" fmla="val 3333"/>
            </a:avLst>
          </a:prstGeom>
          <a:solidFill>
            <a:srgbClr val="F7F9FD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60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测试优化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78040" y="3017520"/>
            <a:ext cx="164592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3108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集成测试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安全审计</a:t>
            </a:r>
            <a:endParaRPr lang="en-US" sz="90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&amp; Outlook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0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8046720" cy="640080"/>
          </a:xfrm>
          <a:prstGeom prst="rect">
            <a:avLst>
              <a:gd name="adj" fmla="val 8571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80160"/>
            <a:ext cx="457200" cy="457200"/>
          </a:xfrm>
          <a:prstGeom prst="rect">
            <a:avLst>
              <a:gd name="adj" fmla="val 12000"/>
            </a:avLst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280160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双模式架构是 AI Agent 从专业工具到通用平台的演进趋势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8046720" cy="640080"/>
          </a:xfrm>
          <a:prstGeom prst="rect">
            <a:avLst>
              <a:gd name="adj" fmla="val 8571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057400"/>
            <a:ext cx="457200" cy="457200"/>
          </a:xfrm>
          <a:prstGeom prst="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057400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模式核心: ReAct + Search 子Agent + Plan Mode 三位一体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8046720" cy="640080"/>
          </a:xfrm>
          <a:prstGeom prst="rect">
            <a:avLst>
              <a:gd name="adj" fmla="val 8571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834640"/>
            <a:ext cx="457200" cy="457200"/>
          </a:xfrm>
          <a:prstGeom prst="rect">
            <a:avLst>
              <a:gd name="adj" fmla="val 12000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2834640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MTC 模式核心: Skills 体系 + 意图澄清 + 多格式处理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640080"/>
          </a:xfrm>
          <a:prstGeom prst="rect">
            <a:avLst>
              <a:gd name="adj" fmla="val 8571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611880"/>
            <a:ext cx="457200" cy="457200"/>
          </a:xfrm>
          <a:prstGeom prst="rect">
            <a:avLst>
              <a:gd name="adj" fmla="val 12000"/>
            </a:avLst>
          </a:prstGeom>
          <a:solidFill>
            <a:srgbClr val="34495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611880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项目已具备良好基础，重点补充 Search 子Agent 和 Plan Mode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0" y="4389120"/>
            <a:ext cx="4572000" cy="548640"/>
          </a:xfrm>
          <a:prstGeom prst="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22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Trae Solo 双模式架构技术汇报</dc:title>
  <dc:subject>PptxGenJS Presentation</dc:subject>
  <dc:creator>Trae Solo Team</dc:creator>
  <cp:lastModifiedBy>Trae Solo Team</cp:lastModifiedBy>
  <cp:revision>1</cp:revision>
  <dcterms:created xsi:type="dcterms:W3CDTF">2026-05-15T12:52:14Z</dcterms:created>
  <dcterms:modified xsi:type="dcterms:W3CDTF">2026-05-15T12:52:14Z</dcterms:modified>
</cp:coreProperties>
</file>